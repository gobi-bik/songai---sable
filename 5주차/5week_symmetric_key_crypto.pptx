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937760" cy="8229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5F9FF"/>
                </a:solidFill>
                <a:latin typeface="Noto Sans CJK KR"/>
              </a:rPr>
              <a:t>대칭키 암호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856231"/>
            <a:ext cx="4754880" cy="8686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1">
                <a:solidFill>
                  <a:srgbClr val="5DEEFF"/>
                </a:solidFill>
                <a:latin typeface="Noto Sans CJK KR"/>
              </a:rPr>
              <a:t>AES와 파일·디스크 암호화로 보는
빠른 데이터 보호의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79592"/>
            <a:ext cx="32004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2C9E5"/>
                </a:solidFill>
                <a:latin typeface="Noto Sans CJK KR"/>
              </a:rPr>
              <a:t>5주차 · 암호학 스터디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566160" cy="457200"/>
          </a:xfrm>
          <a:prstGeom prst="roundRect">
            <a:avLst/>
          </a:prstGeom>
          <a:solidFill>
            <a:srgbClr val="00D6FF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026664"/>
            <a:ext cx="334670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Noto Sans CJK KR"/>
              </a:rPr>
              <a:t>같은 키로 잠그고 같은 키로 푼다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오늘 볼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대칭키 암호를 하나의 사례로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48640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5F9FF"/>
                </a:solidFill>
                <a:latin typeface="Noto Sans CJK KR"/>
              </a:rPr>
              <a:t>왜 AES 같은 대칭키 암호는
파일·디스크 암호화에 자주 쓰일까?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2743200" cy="1280160"/>
          </a:xfrm>
          <a:prstGeom prst="roundRect">
            <a:avLst/>
          </a:prstGeom>
          <a:solidFill>
            <a:srgbClr val="0C2343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886200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D6FF"/>
                </a:solidFill>
                <a:latin typeface="Noto Sans CJK KR"/>
              </a:rPr>
              <a:t>암·복호화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370832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F5F9FF"/>
                </a:solidFill>
                <a:latin typeface="Noto Sans CJK KR"/>
              </a:rPr>
              <a:t>평문을 숨기고
다시 되돌림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93591" y="4343400"/>
            <a:ext cx="594361" cy="0"/>
          </a:xfrm>
          <a:prstGeom prst="line">
            <a:avLst/>
          </a:prstGeom>
          <a:ln w="30480">
            <a:solidFill>
              <a:srgbClr val="0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80" y="3703320"/>
            <a:ext cx="2743200" cy="1280160"/>
          </a:xfrm>
          <a:prstGeom prst="roundRect">
            <a:avLst/>
          </a:prstGeom>
          <a:solidFill>
            <a:srgbClr val="0C2343"/>
          </a:solidFill>
          <a:ln w="12700">
            <a:solidFill>
              <a:srgbClr val="48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886200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8DCAA"/>
                </a:solidFill>
                <a:latin typeface="Noto Sans CJK KR"/>
              </a:rPr>
              <a:t>속도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370832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F5F9FF"/>
                </a:solidFill>
                <a:latin typeface="Noto Sans CJK KR"/>
              </a:rPr>
              <a:t>대량 데이터를
빠르게 처리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68312" y="4343400"/>
            <a:ext cx="594360" cy="0"/>
          </a:xfrm>
          <a:prstGeom prst="line">
            <a:avLst/>
          </a:prstGeom>
          <a:ln w="30480">
            <a:solidFill>
              <a:srgbClr val="0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703320"/>
            <a:ext cx="2743200" cy="1280160"/>
          </a:xfrm>
          <a:prstGeom prst="roundRect">
            <a:avLst/>
          </a:prstGeom>
          <a:solidFill>
            <a:srgbClr val="0C2343"/>
          </a:solidFill>
          <a:ln w="12700"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3886200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CC66"/>
                </a:solidFill>
                <a:latin typeface="Noto Sans CJK KR"/>
              </a:rPr>
              <a:t>키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370832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F5F9FF"/>
                </a:solidFill>
                <a:latin typeface="Noto Sans CJK KR"/>
              </a:rPr>
              <a:t>같은 키를
안전하게 관리</a:t>
            </a:r>
          </a:p>
        </p:txBody>
      </p:sp>
      <p:pic>
        <p:nvPicPr>
          <p:cNvPr id="19" name="Picture 18" descr="keyflow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4617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핵심 구조: 하나의 비밀키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대칭키 암호의 가장 단순한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926080" y="3429000"/>
            <a:ext cx="1691640" cy="0"/>
          </a:xfrm>
          <a:prstGeom prst="line">
            <a:avLst/>
          </a:prstGeom>
          <a:ln w="30480">
            <a:solidFill>
              <a:srgbClr val="0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46520" y="3429000"/>
            <a:ext cx="1691640" cy="0"/>
          </a:xfrm>
          <a:prstGeom prst="line">
            <a:avLst/>
          </a:prstGeom>
          <a:ln w="30480">
            <a:solidFill>
              <a:srgbClr val="0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697480"/>
            <a:ext cx="2834640" cy="137160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53512"/>
            <a:ext cx="24688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0D6FF"/>
                </a:solidFill>
                <a:latin typeface="Noto Sans CJK KR"/>
              </a:rPr>
              <a:t>평문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8"/>
            <a:ext cx="237744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읽을 수 있는 원래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395728"/>
            <a:ext cx="2834640" cy="137160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651760"/>
            <a:ext cx="24688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FFCC66"/>
                </a:solidFill>
                <a:latin typeface="Noto Sans CJK KR"/>
              </a:rPr>
              <a:t>비밀키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45536"/>
            <a:ext cx="237744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암호화·복호화를 제어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97480"/>
            <a:ext cx="2834640" cy="137160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953512"/>
            <a:ext cx="24688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FF4D6D"/>
                </a:solidFill>
                <a:latin typeface="Noto Sans CJK KR"/>
              </a:rPr>
              <a:t>암호문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447288"/>
            <a:ext cx="237744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키 없이는 읽기 어려운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5166360"/>
            <a:ext cx="9555480" cy="731520"/>
          </a:xfrm>
          <a:prstGeom prst="roundRect">
            <a:avLst/>
          </a:prstGeom>
          <a:solidFill>
            <a:srgbClr val="0F284C"/>
          </a:solidFill>
          <a:ln w="12700">
            <a:solidFill>
              <a:srgbClr val="2857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358384"/>
            <a:ext cx="91897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5F9FF"/>
                </a:solidFill>
                <a:latin typeface="Noto Sans CJK KR"/>
              </a:rPr>
              <a:t>암호화할 때 쓴 키와 복호화할 때 쓰는 키가 같다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암·복호화: 같은 키를 다시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C 예시 코드는 XOR 성질로 개념을 보여줌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92040" cy="4251960"/>
          </a:xfrm>
          <a:prstGeom prst="roundRect">
            <a:avLst/>
          </a:prstGeom>
          <a:solidFill>
            <a:srgbClr val="0B203E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29768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0D6FF"/>
                </a:solidFill>
                <a:latin typeface="Noto Sans CJK KR"/>
              </a:rPr>
              <a:t>C 코드에서 보는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06040"/>
            <a:ext cx="4297680" cy="914400"/>
          </a:xfrm>
          <a:prstGeom prst="roundRect">
            <a:avLst/>
          </a:prstGeom>
          <a:solidFill>
            <a:srgbClr val="030F1E"/>
          </a:solidFill>
          <a:ln>
            <a:solidFill>
              <a:srgbClr val="2C5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79776"/>
            <a:ext cx="38404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Noto Sans CJK KR"/>
              </a:rPr>
              <a:t>xor_crypt(plain, cipher, key)
xor_crypt(cipher, decrypted, key)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087368"/>
            <a:ext cx="128016" cy="128016"/>
          </a:xfrm>
          <a:prstGeom prst="ellipse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3977639"/>
            <a:ext cx="3950207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2C9E5"/>
                </a:solidFill>
                <a:latin typeface="Noto Sans CJK KR"/>
              </a:rPr>
              <a:t>첫 줄: 평문을 암호문으로 변환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4562855"/>
            <a:ext cx="128016" cy="128016"/>
          </a:xfrm>
          <a:prstGeom prst="ellipse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4453127"/>
            <a:ext cx="3950207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2C9E5"/>
                </a:solidFill>
                <a:latin typeface="Noto Sans CJK KR"/>
              </a:rPr>
              <a:t>둘째 줄: 같은 키로 다시 평문 복구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5038344"/>
            <a:ext cx="128016" cy="128016"/>
          </a:xfrm>
          <a:prstGeom prst="ellipse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4928616"/>
            <a:ext cx="3950207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2C9E5"/>
                </a:solidFill>
                <a:latin typeface="Noto Sans CJK KR"/>
              </a:rPr>
              <a:t>실제 보안용이 아닌 학습용 구조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45920"/>
            <a:ext cx="4800600" cy="4251960"/>
          </a:xfrm>
          <a:prstGeom prst="roundRect">
            <a:avLst/>
          </a:prstGeom>
          <a:solidFill>
            <a:srgbClr val="0B203E"/>
          </a:solidFill>
          <a:ln w="12700"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20240"/>
            <a:ext cx="425196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CC66"/>
                </a:solidFill>
                <a:latin typeface="Noto Sans CJK KR"/>
              </a:rPr>
              <a:t>hello + key 예시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06040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DEEFF"/>
                </a:solidFill>
                <a:latin typeface="Noto Sans CJK KR"/>
              </a:rPr>
              <a:t>평문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06040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DEEFF"/>
                </a:solidFill>
                <a:latin typeface="Noto Sans CJK KR"/>
              </a:rPr>
              <a:t>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606040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DEEFF"/>
                </a:solidFill>
                <a:latin typeface="Noto Sans CJK KR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6324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6324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6324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47288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447288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447288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831336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831336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831336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15384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215384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215384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599432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599432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599432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0A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5349240"/>
            <a:ext cx="4206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B2C9E5"/>
                </a:solidFill>
                <a:latin typeface="Noto Sans CJK KR"/>
              </a:rPr>
              <a:t>XOR은 같은 값을 두 번 적용하면 원래 값으로 돌아온다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속도: 대량 데이터에 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파일·디스크·통신 데이터는 계속 읽고 써야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749039" cy="82296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7373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D6FF"/>
                </a:solidFill>
                <a:latin typeface="Noto Sans CJK KR"/>
              </a:rPr>
              <a:t>파일 암호화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93392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300" b="0">
                <a:solidFill>
                  <a:srgbClr val="F5F9FF"/>
                </a:solidFill>
                <a:latin typeface="Noto Sans CJK KR"/>
              </a:rPr>
              <a:t>문서·압축파일 보호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63240"/>
            <a:ext cx="3749039" cy="82296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48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7373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8DCAA"/>
                </a:solidFill>
                <a:latin typeface="Noto Sans CJK KR"/>
              </a:rPr>
              <a:t>디스크 암호화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27832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300" b="0">
                <a:solidFill>
                  <a:srgbClr val="F5F9FF"/>
                </a:solidFill>
                <a:latin typeface="Noto Sans CJK KR"/>
              </a:rPr>
              <a:t>저장장치 전체 보호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97680"/>
            <a:ext cx="3749039" cy="82296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17373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CC66"/>
                </a:solidFill>
                <a:latin typeface="Noto Sans CJK KR"/>
              </a:rPr>
              <a:t>통신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462272"/>
            <a:ext cx="1600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300" b="0">
                <a:solidFill>
                  <a:srgbClr val="F5F9FF"/>
                </a:solidFill>
                <a:latin typeface="Noto Sans CJK KR"/>
              </a:rPr>
              <a:t>세션 중 대량 전송</a:t>
            </a:r>
          </a:p>
        </p:txBody>
      </p:sp>
      <p:pic>
        <p:nvPicPr>
          <p:cNvPr id="16" name="Picture 15" descr="hero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72768"/>
            <a:ext cx="5806440" cy="3246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06440" y="5138928"/>
            <a:ext cx="5257800" cy="713232"/>
          </a:xfrm>
          <a:prstGeom prst="roundRect">
            <a:avLst/>
          </a:prstGeom>
          <a:solidFill>
            <a:srgbClr val="0E2A4E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5340096"/>
            <a:ext cx="48920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5F9FF"/>
                </a:solidFill>
                <a:latin typeface="Noto Sans CJK KR"/>
              </a:rPr>
              <a:t>대칭키 암호는 일반적으로 대량 데이터 암호화에 적합하다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한계: 키를 어떻게 안전하게 공유할까?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같은 키를 쓰기 때문에 생기는 구조적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2834640" cy="128016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21945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D6FF"/>
                </a:solidFill>
                <a:latin typeface="Noto Sans CJK KR"/>
              </a:rPr>
              <a:t>보내는 사람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0048"/>
            <a:ext cx="219456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비밀키 보유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01952"/>
            <a:ext cx="2834640" cy="128016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48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176272"/>
            <a:ext cx="21945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48DCAA"/>
                </a:solidFill>
                <a:latin typeface="Noto Sans CJK KR"/>
              </a:rPr>
              <a:t>받는 사람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670048"/>
            <a:ext cx="219456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5F9FF"/>
                </a:solidFill>
                <a:latin typeface="Noto Sans CJK KR"/>
              </a:rPr>
              <a:t>같은 비밀키 필요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2560320"/>
            <a:ext cx="4709160" cy="0"/>
          </a:xfrm>
          <a:prstGeom prst="line">
            <a:avLst/>
          </a:prstGeom>
          <a:ln w="30480">
            <a:solidFill>
              <a:srgbClr val="0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9160" y="2176272"/>
            <a:ext cx="274320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5F9FF"/>
                </a:solidFill>
                <a:latin typeface="Noto Sans CJK KR"/>
              </a:rPr>
              <a:t>공유 키 전달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977639"/>
            <a:ext cx="2971800" cy="1143000"/>
          </a:xfrm>
          <a:prstGeom prst="roundRect">
            <a:avLst/>
          </a:prstGeom>
          <a:solidFill>
            <a:srgbClr val="371323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4233672"/>
            <a:ext cx="21488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4D6D"/>
                </a:solidFill>
                <a:latin typeface="Noto Sans CJK KR"/>
              </a:rPr>
              <a:t>공격자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645152"/>
            <a:ext cx="25603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5F9FF"/>
                </a:solidFill>
                <a:latin typeface="Noto Sans CJK KR"/>
              </a:rPr>
              <a:t>키를 알면 암호문도 위험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2880360"/>
            <a:ext cx="0" cy="978408"/>
          </a:xfrm>
          <a:prstGeom prst="line">
            <a:avLst/>
          </a:prstGeom>
          <a:ln w="30480">
            <a:solidFill>
              <a:srgbClr val="FF4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71600" y="5623560"/>
            <a:ext cx="9418320" cy="502920"/>
          </a:xfrm>
          <a:prstGeom prst="roundRect">
            <a:avLst/>
          </a:prstGeom>
          <a:solidFill>
            <a:srgbClr val="0E2A4E"/>
          </a:solidFill>
          <a:ln w="12700">
            <a:solidFill>
              <a:srgbClr val="2D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5760720"/>
            <a:ext cx="89611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9FF"/>
                </a:solidFill>
                <a:latin typeface="Noto Sans CJK KR"/>
              </a:rPr>
              <a:t>그래서 실제 시스템은 대칭키 암호 + 키 교환/인증 구조를 함께 사용한다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현실 사례: 보호와 악용은 한 끗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같은 암호 기술도 목적에 따라 의미가 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2578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4892040"/>
            <a:ext cx="5257800" cy="868680"/>
          </a:xfrm>
          <a:prstGeom prst="roundRect">
            <a:avLst/>
          </a:prstGeom>
          <a:solidFill>
            <a:srgbClr val="0A1E39"/>
          </a:solidFill>
          <a:ln w="12700">
            <a:solidFill>
              <a:srgbClr val="48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47091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8DCAA"/>
                </a:solidFill>
                <a:latin typeface="Noto Sans CJK KR"/>
              </a:rPr>
              <a:t>정상 사용: 디스크·파일 보호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40680"/>
            <a:ext cx="470916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9FF"/>
                </a:solidFill>
                <a:latin typeface="Noto Sans CJK KR"/>
              </a:rPr>
              <a:t>분실·도난 시 데이터 노출 위험을 줄임</a:t>
            </a:r>
          </a:p>
        </p:txBody>
      </p:sp>
      <p:pic>
        <p:nvPicPr>
          <p:cNvPr id="11" name="Picture 10" descr="ransom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983480" cy="2926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892040"/>
            <a:ext cx="4983480" cy="868680"/>
          </a:xfrm>
          <a:prstGeom prst="roundRect">
            <a:avLst/>
          </a:prstGeom>
          <a:solidFill>
            <a:srgbClr val="2D1224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5074920"/>
            <a:ext cx="44805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4D6D"/>
                </a:solidFill>
                <a:latin typeface="Noto Sans CJK KR"/>
              </a:rPr>
              <a:t>악용 사례: 랜섬웨어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440680"/>
            <a:ext cx="448056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5F9FF"/>
                </a:solidFill>
                <a:latin typeface="Noto Sans CJK KR"/>
              </a:rPr>
              <a:t>파일을 잠그고 복구 대가를 요구하는 방식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Noto Sans CJK KR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8138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2C9E5"/>
                </a:solidFill>
                <a:latin typeface="Noto Sans CJK KR"/>
              </a:rPr>
              <a:t>대칭키 암호를 볼 때 기억할 세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677E9C"/>
                </a:solidFill>
                <a:latin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097280" cy="3657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6629400" cy="749808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D6FF"/>
                </a:solidFill>
                <a:latin typeface="Noto Sans CJK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29384"/>
            <a:ext cx="15087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D6FF"/>
                </a:solidFill>
                <a:latin typeface="Noto Sans CJK KR"/>
              </a:rPr>
              <a:t>같은 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947672"/>
            <a:ext cx="416052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5F9FF"/>
                </a:solidFill>
                <a:latin typeface="Noto Sans CJK KR"/>
              </a:rPr>
              <a:t>암호화와 복호화에 같은 비밀키를 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34639"/>
            <a:ext cx="6629400" cy="749808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48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90087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8DCAA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80944"/>
            <a:ext cx="15087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8DCAA"/>
                </a:solidFill>
                <a:latin typeface="Noto Sans CJK KR"/>
              </a:rPr>
              <a:t>빠른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99232"/>
            <a:ext cx="416052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5F9FF"/>
                </a:solidFill>
                <a:latin typeface="Noto Sans CJK KR"/>
              </a:rPr>
              <a:t>파일·디스크·통신처럼 많은 데이터에 적합하다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86200"/>
            <a:ext cx="6629400" cy="749808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41648"/>
            <a:ext cx="3200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CC66"/>
                </a:solidFill>
                <a:latin typeface="Noto Sans CJK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032504"/>
            <a:ext cx="150876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CC66"/>
                </a:solidFill>
                <a:latin typeface="Noto Sans CJK KR"/>
              </a:rPr>
              <a:t>키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050791"/>
            <a:ext cx="416052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5F9FF"/>
                </a:solidFill>
                <a:latin typeface="Noto Sans CJK KR"/>
              </a:rPr>
              <a:t>키가 유출되면 강한 알고리즘도 무너진다</a:t>
            </a:r>
          </a:p>
        </p:txBody>
      </p:sp>
      <p:pic>
        <p:nvPicPr>
          <p:cNvPr id="19" name="Picture 18" descr="keyflow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63040"/>
            <a:ext cx="3520440" cy="2011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955279" y="3794760"/>
            <a:ext cx="3520440" cy="1143000"/>
          </a:xfrm>
          <a:prstGeom prst="roundRect">
            <a:avLst/>
          </a:prstGeom>
          <a:solidFill>
            <a:srgbClr val="0C2242"/>
          </a:solidFill>
          <a:ln w="1270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41648"/>
            <a:ext cx="297180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D6FF"/>
                </a:solidFill>
                <a:latin typeface="Noto Sans CJK KR"/>
              </a:rPr>
              <a:t>다음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434840"/>
            <a:ext cx="2880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F5F9FF"/>
                </a:solidFill>
                <a:latin typeface="Noto Sans CJK KR"/>
              </a:rPr>
              <a:t>키 공유 문제는 공개키 암호와 키 교환으로 이어진다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236208"/>
            <a:ext cx="1069848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77E9C"/>
                </a:solidFill>
                <a:latin typeface="Noto Sans CJK KR"/>
              </a:rPr>
              <a:t>출처: NIST FIPS 197(AES), NIST SP 800-38A, Microsoft BitLocker, CISA StopRansomware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